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81"/>
  </p:normalViewPr>
  <p:slideViewPr>
    <p:cSldViewPr snapToGrid="0">
      <p:cViewPr varScale="1">
        <p:scale>
          <a:sx n="99" d="100"/>
          <a:sy n="99" d="100"/>
        </p:scale>
        <p:origin x="9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58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92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420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60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12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1371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26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1620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9295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‹N°›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01748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376730-C98E-5333-9974-4A2E680387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2911803"/>
            <a:ext cx="9989574" cy="3598606"/>
          </a:xfrm>
        </p:spPr>
        <p:txBody>
          <a:bodyPr/>
          <a:lstStyle/>
          <a:p>
            <a:pPr algn="ctr"/>
            <a:r>
              <a:rPr lang="fr-FR" dirty="0"/>
              <a:t>Les protocoles </a:t>
            </a:r>
          </a:p>
        </p:txBody>
      </p:sp>
    </p:spTree>
    <p:extLst>
      <p:ext uri="{BB962C8B-B14F-4D97-AF65-F5344CB8AC3E}">
        <p14:creationId xmlns:p14="http://schemas.microsoft.com/office/powerpoint/2010/main" val="2764668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8BCB45-67C9-6920-86BC-E1BB0D506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2429" y="914400"/>
            <a:ext cx="10799472" cy="1307592"/>
          </a:xfrm>
        </p:spPr>
        <p:txBody>
          <a:bodyPr>
            <a:normAutofit/>
          </a:bodyPr>
          <a:lstStyle/>
          <a:p>
            <a:r>
              <a:rPr lang="fr-FR" sz="2800" b="1" dirty="0"/>
              <a:t>1. La messagerie : SMTP, IMAP, POP3 (Couche Application - OSI 7)</a:t>
            </a:r>
            <a:br>
              <a:rPr lang="fr-FR" sz="2800" b="1" dirty="0"/>
            </a:b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E3E8D4-200C-53A9-C181-52C6A1A41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6" y="1559051"/>
            <a:ext cx="10691265" cy="4597049"/>
          </a:xfrm>
        </p:spPr>
        <p:txBody>
          <a:bodyPr/>
          <a:lstStyle/>
          <a:p>
            <a:r>
              <a:rPr lang="fr-FR" b="1" u="sng" dirty="0"/>
              <a:t>SMTP </a:t>
            </a:r>
            <a:r>
              <a:rPr lang="fr-FR" b="1" i="1" u="sng" dirty="0"/>
              <a:t>(Simple Mail Transfer Protocol)</a:t>
            </a:r>
            <a:r>
              <a:rPr lang="fr-FR" b="1" u="sng" dirty="0"/>
              <a:t> </a:t>
            </a:r>
            <a:r>
              <a:rPr lang="fr-FR" sz="1800" dirty="0"/>
              <a:t>:</a:t>
            </a:r>
            <a:r>
              <a:rPr lang="fr-FR" altLang="fr-FR" sz="1800" dirty="0"/>
              <a:t> </a:t>
            </a:r>
            <a:r>
              <a:rPr lang="fr-FR" altLang="fr-FR" sz="1800" b="1" dirty="0"/>
              <a:t>type Push</a:t>
            </a:r>
            <a:r>
              <a:rPr lang="fr-FR" altLang="fr-FR" sz="1800" dirty="0"/>
              <a:t>. Il est utilisé pour transférer le mail du client (MUA - </a:t>
            </a:r>
            <a:r>
              <a:rPr lang="fr-FR" altLang="fr-FR" sz="1800" i="1" dirty="0"/>
              <a:t>Mail User Agent</a:t>
            </a:r>
            <a:r>
              <a:rPr lang="fr-FR" altLang="fr-FR" sz="1800" dirty="0"/>
              <a:t>) vers le serveur de messagerie (MTA - </a:t>
            </a:r>
            <a:r>
              <a:rPr lang="fr-FR" altLang="fr-FR" sz="1800" i="1" dirty="0"/>
              <a:t>Mail Transfer Agent)</a:t>
            </a:r>
            <a:r>
              <a:rPr lang="fr-FR" altLang="fr-FR" sz="1800" dirty="0"/>
              <a:t>.</a:t>
            </a:r>
            <a:r>
              <a:rPr lang="fr-FR" sz="1800" dirty="0"/>
              <a:t> L'échange se fait en mode texte via des commandes standardisées (ex: HELO/EHLO, MAIL FROM, RCPT TO, DATA). Il utilise des codes de statut à 3 chiffres (ex: 250 OK, 421 Service not </a:t>
            </a:r>
            <a:r>
              <a:rPr lang="fr-FR" sz="1800" dirty="0" err="1"/>
              <a:t>available</a:t>
            </a:r>
            <a:r>
              <a:rPr lang="fr-FR" sz="1800" dirty="0"/>
              <a:t>).</a:t>
            </a:r>
          </a:p>
          <a:p>
            <a:r>
              <a:rPr lang="fr-FR" b="1" u="sng" dirty="0"/>
              <a:t>IMAP </a:t>
            </a:r>
            <a:r>
              <a:rPr lang="fr-FR" b="1" i="1" u="sng" dirty="0"/>
              <a:t>(Internet Message Access Protocol) </a:t>
            </a:r>
            <a:r>
              <a:rPr lang="fr-FR" i="1" dirty="0"/>
              <a:t>: </a:t>
            </a:r>
            <a:r>
              <a:rPr lang="fr-FR" sz="1800" b="1" dirty="0"/>
              <a:t>type Pull</a:t>
            </a:r>
            <a:r>
              <a:rPr lang="fr-FR" sz="1800" dirty="0"/>
              <a:t> avec état (</a:t>
            </a:r>
            <a:r>
              <a:rPr lang="fr-FR" sz="1800" i="1" dirty="0" err="1"/>
              <a:t>stateful</a:t>
            </a:r>
            <a:r>
              <a:rPr lang="fr-FR" sz="1800" dirty="0"/>
              <a:t>). Le client établit une session TCP et s'authentifie. Les messages restent stockés de manière persistante sur le serveur. Le client télécharge uniquement les en-têtes ou le corps du message à la demande. Les modifications sont synchronisées </a:t>
            </a:r>
            <a:r>
              <a:rPr lang="fr-FR" sz="1800" dirty="0" err="1"/>
              <a:t>bidirectionnellement</a:t>
            </a:r>
            <a:r>
              <a:rPr lang="fr-FR" sz="1800" dirty="0"/>
              <a:t> entre le client et le serveur grâce à des identifiants uniques (UID).</a:t>
            </a:r>
          </a:p>
          <a:p>
            <a:r>
              <a:rPr lang="fr-FR" b="1" u="sng" dirty="0"/>
              <a:t>POP3 </a:t>
            </a:r>
            <a:r>
              <a:rPr lang="fr-FR" b="1" i="1" u="sng" dirty="0"/>
              <a:t>(Post Office Protocol)</a:t>
            </a:r>
            <a:r>
              <a:rPr lang="fr-FR" b="1" u="sng" dirty="0"/>
              <a:t> </a:t>
            </a:r>
            <a:r>
              <a:rPr lang="fr-FR" b="1" dirty="0"/>
              <a:t>:</a:t>
            </a:r>
            <a:r>
              <a:rPr lang="fr-FR" sz="1800" dirty="0"/>
              <a:t> </a:t>
            </a:r>
            <a:r>
              <a:rPr lang="fr-FR" sz="1800" b="1" dirty="0"/>
              <a:t>type</a:t>
            </a:r>
            <a:r>
              <a:rPr lang="fr-FR" sz="1800" dirty="0"/>
              <a:t> </a:t>
            </a:r>
            <a:r>
              <a:rPr lang="fr-FR" sz="1800" b="1" dirty="0"/>
              <a:t>Pull</a:t>
            </a:r>
            <a:r>
              <a:rPr lang="fr-FR" sz="1800" dirty="0"/>
              <a:t> sans état (</a:t>
            </a:r>
            <a:r>
              <a:rPr lang="fr-FR" sz="1800" i="1" dirty="0" err="1"/>
              <a:t>stateless</a:t>
            </a:r>
            <a:r>
              <a:rPr lang="fr-FR" sz="1800" dirty="0"/>
              <a:t> à long terme). Le cycle de vie d'une connexion POP3 se divise en 3 étapes : </a:t>
            </a:r>
            <a:r>
              <a:rPr lang="fr-FR" sz="1800" b="1" dirty="0"/>
              <a:t>Autorisation</a:t>
            </a:r>
            <a:r>
              <a:rPr lang="fr-FR" sz="1800" dirty="0"/>
              <a:t> (authentification), </a:t>
            </a:r>
            <a:r>
              <a:rPr lang="fr-FR" sz="1800" b="1" dirty="0"/>
              <a:t>Transaction</a:t>
            </a:r>
            <a:r>
              <a:rPr lang="fr-FR" sz="1800" dirty="0"/>
              <a:t> (le client récupère les messages avec la commande RETR et les marque pour suppression avec DELE), et </a:t>
            </a:r>
            <a:r>
              <a:rPr lang="fr-FR" sz="1800" b="1" dirty="0"/>
              <a:t>Mise à jour</a:t>
            </a:r>
            <a:r>
              <a:rPr lang="fr-FR" sz="1800" dirty="0"/>
              <a:t> (la session TCP se ferme avec QUIT et le serveur purge définitivement les e-mails de son stockage).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69879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311E05-5AAF-0661-DAA3-FED2E736B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2. Le transfert de fichiers : FTP (Couche Application - OSI 7)</a:t>
            </a:r>
            <a:br>
              <a:rPr lang="fr-FR" sz="2800" b="1" dirty="0"/>
            </a:b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6F8472-CA9B-0241-CAFD-46A22FE783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568196"/>
            <a:ext cx="10691265" cy="4471996"/>
          </a:xfrm>
        </p:spPr>
        <p:txBody>
          <a:bodyPr/>
          <a:lstStyle/>
          <a:p>
            <a:r>
              <a:rPr lang="fr-FR" b="1" u="sng" dirty="0"/>
              <a:t>FTP </a:t>
            </a:r>
            <a:r>
              <a:rPr lang="fr-FR" b="1" i="1" u="sng" dirty="0"/>
              <a:t>(File Transfer Protocol) </a:t>
            </a:r>
            <a:r>
              <a:rPr lang="fr-FR" i="1" dirty="0"/>
              <a:t>: </a:t>
            </a:r>
            <a:r>
              <a:rPr lang="fr-FR" sz="1800" dirty="0"/>
              <a:t>FTP utilise </a:t>
            </a:r>
            <a:r>
              <a:rPr lang="fr-FR" sz="1800" b="1" dirty="0"/>
              <a:t>deux connexions TCP distinctes.</a:t>
            </a:r>
          </a:p>
          <a:p>
            <a:pPr marL="0" indent="0">
              <a:buNone/>
            </a:pPr>
            <a:r>
              <a:rPr lang="fr-FR" sz="1800" b="1" dirty="0"/>
              <a:t>Canal de Contrôle (Port 21) :</a:t>
            </a:r>
            <a:r>
              <a:rPr lang="fr-FR" sz="1800" dirty="0"/>
              <a:t> Utilisé pour l'authentification et l'envoi des commandes (ex: </a:t>
            </a:r>
            <a:r>
              <a:rPr lang="fr-FR" dirty="0"/>
              <a:t>USER</a:t>
            </a:r>
            <a:r>
              <a:rPr lang="fr-FR" sz="1800" dirty="0"/>
              <a:t>, </a:t>
            </a:r>
            <a:r>
              <a:rPr lang="fr-FR" dirty="0"/>
              <a:t>PASS</a:t>
            </a:r>
            <a:r>
              <a:rPr lang="fr-FR" sz="1800" dirty="0"/>
              <a:t>, </a:t>
            </a:r>
            <a:r>
              <a:rPr lang="fr-FR" dirty="0"/>
              <a:t>LIST</a:t>
            </a:r>
            <a:r>
              <a:rPr lang="fr-FR" sz="1800" dirty="0"/>
              <a:t>, </a:t>
            </a:r>
            <a:r>
              <a:rPr lang="fr-FR" dirty="0"/>
              <a:t>STOR</a:t>
            </a:r>
            <a:r>
              <a:rPr lang="fr-FR" sz="1800" dirty="0"/>
              <a:t>). Ce canal reste ouvert pendant toute la session.</a:t>
            </a:r>
          </a:p>
          <a:p>
            <a:pPr marL="0" indent="0">
              <a:buNone/>
            </a:pPr>
            <a:r>
              <a:rPr lang="fr-FR" sz="1800" b="1" dirty="0"/>
              <a:t>Canal de Données (Port 20 ou dynamique) :</a:t>
            </a:r>
            <a:r>
              <a:rPr lang="fr-FR" sz="1800" dirty="0"/>
              <a:t> Établi uniquement lors du transfert effectif d'un fichier ou d'une liste de fichiers, puis refermé immédiatement après.</a:t>
            </a:r>
          </a:p>
          <a:p>
            <a:pPr marL="0" indent="0">
              <a:buNone/>
            </a:pPr>
            <a:endParaRPr lang="fr-FR" sz="1800" dirty="0"/>
          </a:p>
          <a:p>
            <a:pPr marL="0" indent="0">
              <a:buNone/>
            </a:pPr>
            <a:r>
              <a:rPr lang="fr-FR" sz="1800" b="1" dirty="0"/>
              <a:t>Mode Actif :</a:t>
            </a:r>
            <a:r>
              <a:rPr lang="fr-FR" sz="1800" dirty="0"/>
              <a:t> Le client écoute sur un port dynamique et le serveur initie la connexion de données depuis son port 20. </a:t>
            </a:r>
            <a:r>
              <a:rPr lang="fr-FR" sz="1800" i="1" dirty="0"/>
              <a:t>(Problématique avec les </a:t>
            </a:r>
            <a:r>
              <a:rPr lang="fr-FR" sz="1800" i="1" dirty="0" err="1"/>
              <a:t>pare-feux</a:t>
            </a:r>
            <a:r>
              <a:rPr lang="fr-FR" sz="1800" i="1" dirty="0"/>
              <a:t> côté client).</a:t>
            </a:r>
          </a:p>
          <a:p>
            <a:pPr marL="0" indent="0">
              <a:buNone/>
            </a:pPr>
            <a:r>
              <a:rPr lang="fr-FR" sz="1800" b="1" dirty="0"/>
              <a:t>Mode Passif (PASV) :</a:t>
            </a:r>
            <a:r>
              <a:rPr lang="fr-FR" sz="1800" dirty="0"/>
              <a:t> Le serveur ouvre un port dynamique et le client s'y connecte pour transférer les données. </a:t>
            </a:r>
            <a:r>
              <a:rPr lang="fr-FR" sz="1800" i="1" dirty="0"/>
              <a:t>(Recommandé aujourd'hui).</a:t>
            </a:r>
            <a:endParaRPr lang="fr-FR" sz="1800" dirty="0"/>
          </a:p>
        </p:txBody>
      </p:sp>
    </p:spTree>
    <p:extLst>
      <p:ext uri="{BB962C8B-B14F-4D97-AF65-F5344CB8AC3E}">
        <p14:creationId xmlns:p14="http://schemas.microsoft.com/office/powerpoint/2010/main" val="14041511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AF0058-3487-6319-C7B3-50460D5D1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3100" b="1" dirty="0"/>
              <a:t>3. L'accès à distance : TELNET (Couche Application - OSI 7)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3B19F6F-FAE3-6781-6958-D436E2B54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u="sng" dirty="0"/>
              <a:t>TELNET </a:t>
            </a:r>
            <a:r>
              <a:rPr lang="fr-FR" b="1" i="1" u="sng" dirty="0"/>
              <a:t>(</a:t>
            </a:r>
            <a:r>
              <a:rPr lang="fr-FR" b="1" i="1" u="sng" dirty="0" err="1"/>
              <a:t>Teletype</a:t>
            </a:r>
            <a:r>
              <a:rPr lang="fr-FR" b="1" i="1" u="sng" dirty="0"/>
              <a:t> Network) </a:t>
            </a:r>
            <a:r>
              <a:rPr lang="fr-FR" i="1" dirty="0"/>
              <a:t>: </a:t>
            </a:r>
            <a:r>
              <a:rPr lang="fr-FR" sz="1800" dirty="0"/>
              <a:t>Il fournit une interface de ligne de commande distante basée sur un modèle de terminal </a:t>
            </a:r>
            <a:r>
              <a:rPr lang="fr-FR" sz="1800" dirty="0" err="1"/>
              <a:t>virtuel.Le</a:t>
            </a:r>
            <a:r>
              <a:rPr lang="fr-FR" sz="1800" dirty="0"/>
              <a:t> flux de données (y compris l'équivalent système de l'authentification login et </a:t>
            </a:r>
            <a:r>
              <a:rPr lang="fr-FR" sz="1800" dirty="0" err="1"/>
              <a:t>password</a:t>
            </a:r>
            <a:r>
              <a:rPr lang="fr-FR" sz="1800" dirty="0"/>
              <a:t>) transite en </a:t>
            </a:r>
            <a:r>
              <a:rPr lang="fr-FR" sz="1800" b="1" dirty="0"/>
              <a:t>texte clair</a:t>
            </a:r>
            <a:r>
              <a:rPr lang="fr-FR" sz="1800" dirty="0"/>
              <a:t> dans des segments TCP. N'importe quel analyseur de paquets sur le chemin réseau peut intercepter la session.</a:t>
            </a:r>
          </a:p>
        </p:txBody>
      </p:sp>
    </p:spTree>
    <p:extLst>
      <p:ext uri="{BB962C8B-B14F-4D97-AF65-F5344CB8AC3E}">
        <p14:creationId xmlns:p14="http://schemas.microsoft.com/office/powerpoint/2010/main" val="1700570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620D4E-8993-7247-FE50-7D51595C6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b="1" dirty="0"/>
              <a:t>4. Les protocoles d'infrastructure : ARP et DNS</a:t>
            </a:r>
            <a:br>
              <a:rPr lang="fr-FR" sz="2800" b="1" dirty="0"/>
            </a:b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3E107B-DB03-E3FA-07CD-5C19C3DFE3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1800" b="1" dirty="0"/>
              <a:t>ARP </a:t>
            </a:r>
            <a:r>
              <a:rPr lang="fr-FR" sz="1800" b="1" i="1" dirty="0"/>
              <a:t>(</a:t>
            </a:r>
            <a:r>
              <a:rPr lang="fr-FR" sz="1800" b="1" i="1" dirty="0" err="1"/>
              <a:t>Address</a:t>
            </a:r>
            <a:r>
              <a:rPr lang="fr-FR" sz="1800" b="1" i="1" dirty="0"/>
              <a:t> </a:t>
            </a:r>
            <a:r>
              <a:rPr lang="fr-FR" sz="1800" b="1" i="1" dirty="0" err="1"/>
              <a:t>Resolution</a:t>
            </a:r>
            <a:r>
              <a:rPr lang="fr-FR" sz="1800" b="1" i="1" dirty="0"/>
              <a:t> Protocol)</a:t>
            </a:r>
            <a:r>
              <a:rPr lang="fr-FR" sz="1800" b="1" dirty="0"/>
              <a:t> — Couche Liaison de données (OSI 2 / 2.5) : </a:t>
            </a:r>
            <a:r>
              <a:rPr lang="fr-FR" sz="1800" dirty="0"/>
              <a:t>Résoudre la correspondance entre une adresse logique (Couche 3 - IP) et une adresse physique (Couche 2 - adresse MAC) au sein d'un même domaine de diffusion.</a:t>
            </a:r>
          </a:p>
          <a:p>
            <a:r>
              <a:rPr lang="fr-FR" sz="1800" dirty="0"/>
              <a:t>ARP n'est pas encapsulé dans IP, il est directement encapsulé dans une trame Ethernet.</a:t>
            </a:r>
          </a:p>
          <a:p>
            <a:endParaRPr lang="fr-FR" sz="1800" dirty="0"/>
          </a:p>
          <a:p>
            <a:pPr marL="0" indent="0">
              <a:buNone/>
            </a:pPr>
            <a:r>
              <a:rPr lang="fr-FR" sz="1800" u="sng" dirty="0"/>
              <a:t>ARP </a:t>
            </a:r>
            <a:r>
              <a:rPr lang="fr-FR" sz="1800" u="sng" dirty="0" err="1"/>
              <a:t>Request</a:t>
            </a:r>
            <a:r>
              <a:rPr lang="fr-FR" sz="1800" u="sng" dirty="0"/>
              <a:t> : </a:t>
            </a:r>
            <a:r>
              <a:rPr lang="fr-FR" sz="1800" dirty="0"/>
              <a:t>La machine source envoie une trame en </a:t>
            </a:r>
            <a:r>
              <a:rPr lang="fr-FR" sz="1800" i="1" dirty="0"/>
              <a:t>Broadcast</a:t>
            </a:r>
            <a:r>
              <a:rPr lang="fr-FR" sz="1800" dirty="0"/>
              <a:t> (adresse MAC de destination : FF:FF:FF:FF:FF:FF). Le message dit : </a:t>
            </a:r>
            <a:r>
              <a:rPr lang="fr-FR" sz="1800" i="1" dirty="0"/>
              <a:t>"Qui possède l'IP X.X.X.X ? Répondez à Y.Y.Y.Y »</a:t>
            </a:r>
          </a:p>
          <a:p>
            <a:pPr marL="0" indent="0">
              <a:buNone/>
            </a:pPr>
            <a:r>
              <a:rPr lang="fr-FR" sz="1800" u="sng" dirty="0"/>
              <a:t>ARP </a:t>
            </a:r>
            <a:r>
              <a:rPr lang="fr-FR" sz="1800" u="sng" dirty="0" err="1"/>
              <a:t>Reply</a:t>
            </a:r>
            <a:r>
              <a:rPr lang="fr-FR" sz="1800" u="sng" dirty="0"/>
              <a:t> : </a:t>
            </a:r>
            <a:r>
              <a:rPr lang="fr-FR" sz="1800" dirty="0"/>
              <a:t>La machine concernée reconnaît son IP et répond en </a:t>
            </a:r>
            <a:r>
              <a:rPr lang="fr-FR" sz="1800" i="1" dirty="0"/>
              <a:t>Unicast</a:t>
            </a:r>
            <a:r>
              <a:rPr lang="fr-FR" sz="1800" dirty="0"/>
              <a:t> (directement à la source) en fournissant son adresse MAC.</a:t>
            </a:r>
          </a:p>
          <a:p>
            <a:pPr marL="0" indent="0">
              <a:buNone/>
            </a:pPr>
            <a:r>
              <a:rPr lang="fr-FR" sz="1900" u="sng" dirty="0"/>
              <a:t>ARP Cache : </a:t>
            </a:r>
            <a:r>
              <a:rPr lang="fr-FR" sz="1900" dirty="0"/>
              <a:t>Le résultat est stocké dynamiquement dans la table ARP du système d'exploitation pour éviter de répéter l'opération à chaque paquet.</a:t>
            </a:r>
          </a:p>
          <a:p>
            <a:endParaRPr lang="fr-FR" sz="1800" b="1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6757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6FDC486-E8ED-C4D1-094C-57F07687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b="1" dirty="0"/>
              <a:t>DNS </a:t>
            </a:r>
            <a:r>
              <a:rPr lang="fr-FR" sz="2800" b="1" i="1" dirty="0"/>
              <a:t>(Domain Name System)</a:t>
            </a:r>
            <a:r>
              <a:rPr lang="fr-FR" sz="2800" b="1" dirty="0"/>
              <a:t> — Port UDP/TCP 53 (Couche Application - OSI 7)</a:t>
            </a:r>
            <a:br>
              <a:rPr lang="fr-FR" sz="2800" b="1" dirty="0"/>
            </a:br>
            <a:endParaRPr lang="fr-FR" sz="2800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B1488A-D374-BA03-9C37-EE394E03FC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951535"/>
            <a:ext cx="10691265" cy="4230323"/>
          </a:xfrm>
        </p:spPr>
        <p:txBody>
          <a:bodyPr>
            <a:normAutofit/>
          </a:bodyPr>
          <a:lstStyle/>
          <a:p>
            <a:r>
              <a:rPr lang="fr-FR" sz="1800" dirty="0"/>
              <a:t>Résolution de noms FQDN (</a:t>
            </a:r>
            <a:r>
              <a:rPr lang="fr-FR" sz="1800" i="1" dirty="0" err="1"/>
              <a:t>Fully</a:t>
            </a:r>
            <a:r>
              <a:rPr lang="fr-FR" sz="1800" i="1" dirty="0"/>
              <a:t> </a:t>
            </a:r>
            <a:r>
              <a:rPr lang="fr-FR" sz="1800" i="1" dirty="0" err="1"/>
              <a:t>Qualified</a:t>
            </a:r>
            <a:r>
              <a:rPr lang="fr-FR" sz="1800" i="1" dirty="0"/>
              <a:t> Domain Name</a:t>
            </a:r>
            <a:r>
              <a:rPr lang="fr-FR" sz="1800" dirty="0"/>
              <a:t>) en adresses IP (et inversement via le reverse DNS.</a:t>
            </a:r>
          </a:p>
          <a:p>
            <a:r>
              <a:rPr lang="fr-FR" sz="1800" b="1" dirty="0"/>
              <a:t>Requête Récursive :</a:t>
            </a:r>
            <a:r>
              <a:rPr lang="fr-FR" sz="1800" dirty="0"/>
              <a:t> Le client interroge son résolveur local (souvent configuré via DHCP). Le résolveur prend la responsabilité de trouver la réponse.</a:t>
            </a:r>
          </a:p>
          <a:p>
            <a:r>
              <a:rPr lang="fr-FR" sz="1800" b="1" dirty="0"/>
              <a:t>Requête Itérative :</a:t>
            </a:r>
            <a:r>
              <a:rPr lang="fr-FR" sz="1800" dirty="0"/>
              <a:t> Le résolveur interroge successivement la racine, le TLD, puis le serveur faisant autorité jusqu'à obtenir l'enregistrement.</a:t>
            </a:r>
          </a:p>
          <a:p>
            <a:r>
              <a:rPr lang="fr-FR" sz="1800" b="1" dirty="0"/>
              <a:t>Transport :</a:t>
            </a:r>
            <a:r>
              <a:rPr lang="fr-FR" sz="1800" dirty="0"/>
              <a:t> Utilise majoritairement UDP pour sa rapidité mais bascule sur TCP si la réponse est trop volumineuse.</a:t>
            </a:r>
          </a:p>
          <a:p>
            <a:r>
              <a:rPr lang="fr-FR" sz="1800" b="1" dirty="0"/>
              <a:t>A :</a:t>
            </a:r>
            <a:r>
              <a:rPr lang="fr-FR" sz="1800" dirty="0"/>
              <a:t> Mappe un nom vers une adresse IPv4.</a:t>
            </a:r>
          </a:p>
          <a:p>
            <a:r>
              <a:rPr lang="fr-FR" sz="1800" b="1" dirty="0"/>
              <a:t>AAAA :</a:t>
            </a:r>
            <a:r>
              <a:rPr lang="fr-FR" sz="1800" dirty="0"/>
              <a:t> Mappe un nom vers une adresse IPv6.</a:t>
            </a:r>
          </a:p>
          <a:p>
            <a:r>
              <a:rPr lang="fr-FR" sz="1800" b="1" dirty="0"/>
              <a:t>MX :</a:t>
            </a:r>
            <a:r>
              <a:rPr lang="fr-FR" sz="1800" dirty="0"/>
              <a:t> Désigne les serveurs de messagerie du domaine (indispensable pour </a:t>
            </a:r>
            <a:r>
              <a:rPr lang="fr-FR" sz="1800"/>
              <a:t>SMTP !).</a:t>
            </a:r>
            <a:endParaRPr lang="fr-FR" sz="1800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2870966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797</Words>
  <Application>Microsoft Macintosh PowerPoint</Application>
  <PresentationFormat>Grand écran</PresentationFormat>
  <Paragraphs>29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0" baseType="lpstr">
      <vt:lpstr>Arial</vt:lpstr>
      <vt:lpstr>Calisto MT</vt:lpstr>
      <vt:lpstr>Univers Condensed</vt:lpstr>
      <vt:lpstr>ChronicleVTI</vt:lpstr>
      <vt:lpstr>Les protocoles </vt:lpstr>
      <vt:lpstr>1. La messagerie : SMTP, IMAP, POP3 (Couche Application - OSI 7) </vt:lpstr>
      <vt:lpstr>2. Le transfert de fichiers : FTP (Couche Application - OSI 7) </vt:lpstr>
      <vt:lpstr>3. L'accès à distance : TELNET (Couche Application - OSI 7) </vt:lpstr>
      <vt:lpstr>4. Les protocoles d'infrastructure : ARP et DNS </vt:lpstr>
      <vt:lpstr>DNS (Domain Name System) — Port UDP/TCP 53 (Couche Application - OSI 7)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COUSIN Mickaël</dc:creator>
  <cp:lastModifiedBy>COUSIN Mickaël</cp:lastModifiedBy>
  <cp:revision>2</cp:revision>
  <dcterms:created xsi:type="dcterms:W3CDTF">2026-07-01T11:15:18Z</dcterms:created>
  <dcterms:modified xsi:type="dcterms:W3CDTF">2026-07-01T11:47:56Z</dcterms:modified>
</cp:coreProperties>
</file>